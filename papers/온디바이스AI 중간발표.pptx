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Pretendard Light" panose="020B0600000101010101" charset="-127"/>
      <p:regular r:id="rId20"/>
    </p:embeddedFont>
    <p:embeddedFont>
      <p:font typeface="Pretendard Medium" panose="020B0600000101010101" charset="-127"/>
      <p:bold r:id="rId21"/>
    </p:embeddedFont>
    <p:embeddedFont>
      <p:font typeface="Pretendard Regular" panose="020B0600000101010101" charset="-127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8.png"/><Relationship Id="rId7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3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7.sv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38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28.svg"/><Relationship Id="rId9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00" y="9105900"/>
            <a:ext cx="168021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00" y="9652000"/>
            <a:ext cx="168021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04900" y="9220200"/>
            <a:ext cx="5372100" cy="355600"/>
          </a:xfrm>
          <a:prstGeom prst="rect">
            <a:avLst/>
          </a:prstGeom>
        </p:spPr>
        <p:txBody>
          <a:bodyPr lIns="0" tIns="23515" rIns="0" bIns="23515" rtlCol="0" anchor="ctr"/>
          <a:lstStyle/>
          <a:p>
            <a:pPr lvl="0" algn="l">
              <a:lnSpc>
                <a:spcPct val="99600"/>
              </a:lnSpc>
            </a:pPr>
            <a:r>
              <a:rPr lang="en-US" sz="1851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온디바이스AI 8조: 송하현 유재림 이민우 이수현 하정훈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600" y="5054600"/>
            <a:ext cx="16433800" cy="39878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l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Joint Training of</a:t>
            </a:r>
          </a:p>
          <a:p>
            <a:pPr lvl="0" algn="l">
              <a:lnSpc>
                <a:spcPct val="99600"/>
              </a:lnSpc>
            </a:pPr>
            <a:r>
              <a:rPr lang="en-US" sz="1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QAT &amp; Token Pruning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6311900"/>
            <a:ext cx="162941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489700" y="6553200"/>
            <a:ext cx="5321300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781300" y="7061200"/>
            <a:ext cx="4292600" cy="850900"/>
          </a:xfrm>
          <a:prstGeom prst="rect">
            <a:avLst/>
          </a:prstGeom>
        </p:spPr>
        <p:txBody>
          <a:bodyPr lIns="0" tIns="61602" rIns="0" bIns="61602" rtlCol="0" anchor="ctr"/>
          <a:lstStyle/>
          <a:p>
            <a:pPr lvl="0" algn="ctr">
              <a:lnSpc>
                <a:spcPct val="98770"/>
              </a:lnSpc>
            </a:pPr>
            <a:r>
              <a:rPr lang="en-US" sz="4619" b="1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32100" y="7988300"/>
            <a:ext cx="4203700" cy="787400"/>
          </a:xfrm>
          <a:prstGeom prst="rect">
            <a:avLst/>
          </a:prstGeom>
        </p:spPr>
        <p:txBody>
          <a:bodyPr lIns="0" tIns="14247" rIns="0" bIns="14247" rtlCol="0" anchor="ctr"/>
          <a:lstStyle/>
          <a:p>
            <a:pPr lvl="0" algn="ctr">
              <a:lnSpc>
                <a:spcPct val="107899"/>
              </a:lnSpc>
            </a:pPr>
            <a:r>
              <a:rPr lang="en-US" sz="2243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Method</a:t>
            </a:r>
          </a:p>
          <a:p>
            <a:pPr lvl="0" algn="ctr">
              <a:lnSpc>
                <a:spcPct val="107899"/>
              </a:lnSpc>
            </a:pPr>
            <a:endParaRPr lang="en-US" sz="2243" b="0" i="0" u="none" strike="noStrike">
              <a:solidFill>
                <a:srgbClr val="4D4D4D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68600" y="3975100"/>
            <a:ext cx="4292600" cy="850900"/>
          </a:xfrm>
          <a:prstGeom prst="rect">
            <a:avLst/>
          </a:prstGeom>
        </p:spPr>
        <p:txBody>
          <a:bodyPr lIns="0" tIns="61602" rIns="0" bIns="61602" rtlCol="0" anchor="ctr"/>
          <a:lstStyle/>
          <a:p>
            <a:pPr lvl="0" algn="ctr">
              <a:lnSpc>
                <a:spcPct val="98770"/>
              </a:lnSpc>
            </a:pPr>
            <a:r>
              <a:rPr lang="en-US" sz="4619" b="1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19400" y="4889500"/>
            <a:ext cx="4203700" cy="787400"/>
          </a:xfrm>
          <a:prstGeom prst="rect">
            <a:avLst/>
          </a:prstGeom>
        </p:spPr>
        <p:txBody>
          <a:bodyPr lIns="0" tIns="14247" rIns="0" bIns="14247" rtlCol="0" anchor="ctr"/>
          <a:lstStyle/>
          <a:p>
            <a:pPr lvl="0" algn="ctr">
              <a:lnSpc>
                <a:spcPct val="107899"/>
              </a:lnSpc>
            </a:pPr>
            <a:r>
              <a:rPr lang="en-US" sz="2243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Introduction</a:t>
            </a:r>
          </a:p>
          <a:p>
            <a:pPr lvl="0" algn="ctr">
              <a:lnSpc>
                <a:spcPct val="107899"/>
              </a:lnSpc>
            </a:pPr>
            <a:endParaRPr lang="en-US" sz="2243" b="0" i="0" u="none" strike="noStrike">
              <a:solidFill>
                <a:srgbClr val="4D4D4D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01400" y="3898900"/>
            <a:ext cx="4165600" cy="850900"/>
          </a:xfrm>
          <a:prstGeom prst="rect">
            <a:avLst/>
          </a:prstGeom>
        </p:spPr>
        <p:txBody>
          <a:bodyPr lIns="0" tIns="61602" rIns="0" bIns="61602" rtlCol="0" anchor="ctr"/>
          <a:lstStyle/>
          <a:p>
            <a:pPr lvl="0" algn="ctr">
              <a:lnSpc>
                <a:spcPct val="98770"/>
              </a:lnSpc>
            </a:pPr>
            <a:r>
              <a:rPr lang="en-US" sz="4619" b="1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88700" y="4826000"/>
            <a:ext cx="4203700" cy="787400"/>
          </a:xfrm>
          <a:prstGeom prst="rect">
            <a:avLst/>
          </a:prstGeom>
        </p:spPr>
        <p:txBody>
          <a:bodyPr lIns="0" tIns="14247" rIns="0" bIns="14247" rtlCol="0" anchor="ctr"/>
          <a:lstStyle/>
          <a:p>
            <a:pPr lvl="0" algn="ctr">
              <a:lnSpc>
                <a:spcPct val="107899"/>
              </a:lnSpc>
            </a:pPr>
            <a:r>
              <a:rPr lang="en-US" sz="2243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Related Works</a:t>
            </a:r>
          </a:p>
          <a:p>
            <a:pPr lvl="0" algn="ctr">
              <a:lnSpc>
                <a:spcPct val="107899"/>
              </a:lnSpc>
            </a:pPr>
            <a:endParaRPr lang="en-US" sz="2243" b="0" i="0" u="none" strike="noStrike">
              <a:solidFill>
                <a:srgbClr val="4D4D4D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150600" y="7137400"/>
            <a:ext cx="4279900" cy="850900"/>
          </a:xfrm>
          <a:prstGeom prst="rect">
            <a:avLst/>
          </a:prstGeom>
        </p:spPr>
        <p:txBody>
          <a:bodyPr lIns="0" tIns="61602" rIns="0" bIns="61602" rtlCol="0" anchor="ctr"/>
          <a:lstStyle/>
          <a:p>
            <a:pPr lvl="0" algn="ctr">
              <a:lnSpc>
                <a:spcPct val="98770"/>
              </a:lnSpc>
            </a:pPr>
            <a:r>
              <a:rPr lang="en-US" sz="4619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88700" y="8051800"/>
            <a:ext cx="4203700" cy="787400"/>
          </a:xfrm>
          <a:prstGeom prst="rect">
            <a:avLst/>
          </a:prstGeom>
        </p:spPr>
        <p:txBody>
          <a:bodyPr lIns="0" tIns="14247" rIns="0" bIns="14247" rtlCol="0" anchor="ctr"/>
          <a:lstStyle/>
          <a:p>
            <a:pPr lvl="0" algn="ctr">
              <a:lnSpc>
                <a:spcPct val="107899"/>
              </a:lnSpc>
            </a:pPr>
            <a:r>
              <a:rPr lang="en-US" sz="2243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Experiments</a:t>
            </a:r>
          </a:p>
          <a:p>
            <a:pPr lvl="0" algn="ctr">
              <a:lnSpc>
                <a:spcPct val="107899"/>
              </a:lnSpc>
            </a:pPr>
            <a:endParaRPr lang="en-US" sz="2243" b="0" i="0" u="none" strike="noStrike">
              <a:solidFill>
                <a:srgbClr val="4D4D4D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413000" y="10414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8318500"/>
            <a:ext cx="60706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20800" y="3835400"/>
            <a:ext cx="8547100" cy="3403600"/>
          </a:xfrm>
          <a:prstGeom prst="rect">
            <a:avLst/>
          </a:prstGeom>
        </p:spPr>
        <p:txBody>
          <a:bodyPr lIns="0" tIns="13271" rIns="0" bIns="13271" rtlCol="0" anchor="ctr"/>
          <a:lstStyle/>
          <a:p>
            <a:pPr lvl="0" algn="l">
              <a:lnSpc>
                <a:spcPct val="115287"/>
              </a:lnSpc>
            </a:pPr>
            <a:r>
              <a:rPr lang="en-US" sz="18999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5900" y="6718300"/>
            <a:ext cx="9207500" cy="1524000"/>
          </a:xfrm>
          <a:prstGeom prst="rect">
            <a:avLst/>
          </a:prstGeom>
        </p:spPr>
        <p:txBody>
          <a:bodyPr lIns="0" tIns="5892" rIns="0" bIns="5892" rtlCol="0" anchor="ctr"/>
          <a:lstStyle/>
          <a:p>
            <a:pPr lvl="0" algn="l">
              <a:lnSpc>
                <a:spcPct val="115287"/>
              </a:lnSpc>
            </a:pPr>
            <a:r>
              <a:rPr lang="en-US" sz="8435" b="0" i="0" u="none" strike="noStrike" cap="all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5900" y="8534400"/>
            <a:ext cx="8953500" cy="495300"/>
          </a:xfrm>
          <a:prstGeom prst="rect">
            <a:avLst/>
          </a:prstGeom>
        </p:spPr>
        <p:txBody>
          <a:bodyPr lIns="0" tIns="1861" rIns="0" bIns="1861" rtlCol="0" anchor="ctr"/>
          <a:lstStyle/>
          <a:p>
            <a:pPr lvl="0" algn="l">
              <a:lnSpc>
                <a:spcPct val="115287"/>
              </a:lnSpc>
            </a:pPr>
            <a:r>
              <a:rPr lang="en-US" sz="2664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문제 선정 동기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340100"/>
            <a:ext cx="9702800" cy="595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049000" y="6553200"/>
            <a:ext cx="6324600" cy="157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(a) Quant 적용 전/후 activation distribution 변화 발생</a:t>
            </a: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(b) 양자화된 모델의 최적 pruning recipe을 구하지 못함.</a:t>
            </a:r>
          </a:p>
          <a:p>
            <a:pPr lvl="0" algn="l">
              <a:lnSpc>
                <a:spcPct val="128650"/>
              </a:lnSpc>
            </a:pPr>
            <a:endParaRPr lang="en-US" sz="2014" b="0" i="0" u="none" strike="noStrike">
              <a:solidFill>
                <a:srgbClr val="4D4D4D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-&gt; Quantization을 고려한 token pruning 방식 필요!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49000" y="5245100"/>
            <a:ext cx="6337300" cy="1092200"/>
          </a:xfrm>
          <a:prstGeom prst="rect">
            <a:avLst/>
          </a:prstGeom>
        </p:spPr>
        <p:txBody>
          <a:bodyPr lIns="0" tIns="5747" rIns="0" bIns="5747" rtlCol="0" anchor="ctr"/>
          <a:lstStyle/>
          <a:p>
            <a:pPr lvl="0" algn="l">
              <a:lnSpc>
                <a:spcPct val="113710"/>
              </a:lnSpc>
            </a:pPr>
            <a:r>
              <a:rPr lang="en-US" sz="3016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Quantization - Token Pruning</a:t>
            </a:r>
          </a:p>
          <a:p>
            <a:pPr lvl="0" algn="l">
              <a:lnSpc>
                <a:spcPct val="113710"/>
              </a:lnSpc>
            </a:pPr>
            <a:r>
              <a:rPr lang="en-US" sz="3016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Mismatch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66000" y="6604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" y="9258300"/>
            <a:ext cx="961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1600" b="0" i="1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Li, Xinqing, et al. "Towards Joint Quantization and Token Pruning of Vision-Language Models." arXiv preprint arXiv:2604.17320 (2026).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340100"/>
            <a:ext cx="9702800" cy="5956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6000" y="6604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" y="9258300"/>
            <a:ext cx="961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1600" b="0" i="1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Li, Xinqing, et al. "Towards Joint Quantization and Token Pruning of Vision-Language Models." arXiv preprint arXiv:2604.17320 (2026).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9000" y="5245100"/>
            <a:ext cx="6337300" cy="1092200"/>
          </a:xfrm>
          <a:prstGeom prst="rect">
            <a:avLst/>
          </a:prstGeom>
        </p:spPr>
        <p:txBody>
          <a:bodyPr lIns="0" tIns="5747" rIns="0" bIns="5747" rtlCol="0" anchor="ctr"/>
          <a:lstStyle/>
          <a:p>
            <a:pPr lvl="0" algn="l">
              <a:lnSpc>
                <a:spcPct val="113710"/>
              </a:lnSpc>
            </a:pPr>
            <a:r>
              <a:rPr lang="en-US" sz="3016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Quantization - Token Pruning</a:t>
            </a:r>
          </a:p>
          <a:p>
            <a:pPr lvl="0" algn="l">
              <a:lnSpc>
                <a:spcPct val="113710"/>
              </a:lnSpc>
            </a:pPr>
            <a:r>
              <a:rPr lang="en-US" sz="3016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Mismatch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49000" y="6553200"/>
            <a:ext cx="6324600" cy="157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QAT -&gt; 배포 시 token pruning</a:t>
            </a: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(a) Quant 적용 전/후 activation distribution 변화 발생</a:t>
            </a:r>
          </a:p>
          <a:p>
            <a:pPr lvl="0" algn="l">
              <a:lnSpc>
                <a:spcPct val="128650"/>
              </a:lnSpc>
            </a:pPr>
            <a:endParaRPr lang="en-US" sz="2014" b="0" i="0" u="none" strike="noStrike">
              <a:solidFill>
                <a:srgbClr val="4D4D4D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-&gt; Quantization을 고려한 token pruning 방식 필요!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3276600"/>
            <a:ext cx="2717800" cy="6007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49300" y="2819400"/>
            <a:ext cx="3213100" cy="381000"/>
          </a:xfrm>
          <a:prstGeom prst="rect">
            <a:avLst/>
          </a:prstGeom>
        </p:spPr>
        <p:txBody>
          <a:bodyPr lIns="0" tIns="3810" rIns="0" bIns="3810" rtlCol="0" anchor="ctr"/>
          <a:lstStyle/>
          <a:p>
            <a:pPr lvl="0" algn="ctr">
              <a:lnSpc>
                <a:spcPct val="113710"/>
              </a:lnSpc>
            </a:pPr>
            <a:r>
              <a:rPr lang="en-US" sz="2000" b="0" i="0" u="none" strike="noStrike">
                <a:solidFill>
                  <a:srgbClr val="E12626"/>
                </a:solidFill>
                <a:latin typeface="Pretendard Medium"/>
                <a:ea typeface="Pretendard Medium"/>
                <a:cs typeface="Pretendard Medium"/>
              </a:rPr>
              <a:t>QAT -&gt; Token pruning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787900"/>
            <a:ext cx="1892300" cy="901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84300" y="5003800"/>
            <a:ext cx="15494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85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QAT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8900" y="4406900"/>
            <a:ext cx="1676400" cy="63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146300" y="3949700"/>
            <a:ext cx="1714500" cy="381000"/>
          </a:xfrm>
          <a:prstGeom prst="rect">
            <a:avLst/>
          </a:prstGeom>
        </p:spPr>
        <p:txBody>
          <a:bodyPr lIns="0" tIns="3810" rIns="0" bIns="3810" rtlCol="0" anchor="ctr"/>
          <a:lstStyle/>
          <a:p>
            <a:pPr lvl="0" algn="ctr">
              <a:lnSpc>
                <a:spcPct val="113710"/>
              </a:lnSpc>
            </a:pPr>
            <a:r>
              <a:rPr lang="en-US" sz="2000" b="0" i="0" u="none" strike="noStrike">
                <a:solidFill>
                  <a:srgbClr val="E12626"/>
                </a:solidFill>
                <a:latin typeface="Pretendard Medium"/>
                <a:ea typeface="Pretendard Medium"/>
                <a:cs typeface="Pretendard Medium"/>
              </a:rPr>
              <a:t>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" y="4241800"/>
            <a:ext cx="16319500" cy="1816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286000" y="4584700"/>
            <a:ext cx="137160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269"/>
              </a:lnSpc>
            </a:pPr>
            <a:r>
              <a:rPr lang="en-US" sz="3000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QAT 학습 과정에서 weight와 token pruning을 동시에 최적화</a:t>
            </a:r>
          </a:p>
          <a:p>
            <a:pPr lvl="0" algn="ctr">
              <a:lnSpc>
                <a:spcPct val="140269"/>
              </a:lnSpc>
            </a:pPr>
            <a:r>
              <a:rPr lang="en-US" sz="3000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-&gt; Quantization - token pruning mismatching 완화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Hypothesis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6000" y="6477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8318500"/>
            <a:ext cx="60706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20800" y="3835400"/>
            <a:ext cx="8547100" cy="3403600"/>
          </a:xfrm>
          <a:prstGeom prst="rect">
            <a:avLst/>
          </a:prstGeom>
        </p:spPr>
        <p:txBody>
          <a:bodyPr lIns="0" tIns="13271" rIns="0" bIns="13271" rtlCol="0" anchor="ctr"/>
          <a:lstStyle/>
          <a:p>
            <a:pPr lvl="0" algn="l">
              <a:lnSpc>
                <a:spcPct val="115287"/>
              </a:lnSpc>
            </a:pPr>
            <a:r>
              <a:rPr lang="en-US" sz="18999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5900" y="6718300"/>
            <a:ext cx="9207500" cy="1524000"/>
          </a:xfrm>
          <a:prstGeom prst="rect">
            <a:avLst/>
          </a:prstGeom>
        </p:spPr>
        <p:txBody>
          <a:bodyPr lIns="0" tIns="5892" rIns="0" bIns="5892" rtlCol="0" anchor="ctr"/>
          <a:lstStyle/>
          <a:p>
            <a:pPr lvl="0" algn="l">
              <a:lnSpc>
                <a:spcPct val="115287"/>
              </a:lnSpc>
            </a:pPr>
            <a:r>
              <a:rPr lang="en-US" sz="8435" b="0" i="0" u="none" strike="noStrike" cap="all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Related 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5900" y="8559800"/>
            <a:ext cx="8953500" cy="495300"/>
          </a:xfrm>
          <a:prstGeom prst="rect">
            <a:avLst/>
          </a:prstGeom>
        </p:spPr>
        <p:txBody>
          <a:bodyPr lIns="0" tIns="1861" rIns="0" bIns="1861" rtlCol="0" anchor="ctr"/>
          <a:lstStyle/>
          <a:p>
            <a:pPr lvl="0" algn="l">
              <a:lnSpc>
                <a:spcPct val="115287"/>
              </a:lnSpc>
            </a:pPr>
            <a:r>
              <a:rPr lang="en-US" sz="2664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선행 연구 소개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049000" y="6667500"/>
            <a:ext cx="63246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PTQ에 적합한 Token pruning 방법 제안</a:t>
            </a: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Quantization sensitivity를 추가로 고려하여 pruning 진행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9000" y="5753100"/>
            <a:ext cx="6337300" cy="558800"/>
          </a:xfrm>
          <a:prstGeom prst="rect">
            <a:avLst/>
          </a:prstGeom>
        </p:spPr>
        <p:txBody>
          <a:bodyPr lIns="0" tIns="5747" rIns="0" bIns="5747" rtlCol="0" anchor="ctr"/>
          <a:lstStyle/>
          <a:p>
            <a:pPr lvl="0" algn="l">
              <a:lnSpc>
                <a:spcPct val="113710"/>
              </a:lnSpc>
            </a:pPr>
            <a:r>
              <a:rPr lang="en-US" sz="3016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QUOTA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Related 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6000" y="6604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949700"/>
            <a:ext cx="9893300" cy="4711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55700" y="8674100"/>
            <a:ext cx="96139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1600" b="0" i="1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Li, Xinqing, et al. "Towards Joint Quantization and Token Pruning of Vision-Language Models." arXiv preprint arXiv:2604.17320 (2026).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049000" y="6616700"/>
            <a:ext cx="6324600" cy="1168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ViT에 token pruning module을 추가하여 학습</a:t>
            </a: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Attention score 기반 상위 k개 token 선택</a:t>
            </a:r>
          </a:p>
          <a:p>
            <a:pPr lvl="0" algn="l">
              <a:lnSpc>
                <a:spcPct val="128650"/>
              </a:lnSpc>
            </a:pPr>
            <a:r>
              <a:rPr lang="en-US" sz="2014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성능 손실 거의 없이 1.5 ~ 4배 속도 향상 달성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9000" y="5753100"/>
            <a:ext cx="6337300" cy="558800"/>
          </a:xfrm>
          <a:prstGeom prst="rect">
            <a:avLst/>
          </a:prstGeom>
        </p:spPr>
        <p:txBody>
          <a:bodyPr lIns="0" tIns="5747" rIns="0" bIns="5747" rtlCol="0" anchor="ctr"/>
          <a:lstStyle/>
          <a:p>
            <a:pPr lvl="0" algn="l">
              <a:lnSpc>
                <a:spcPct val="113710"/>
              </a:lnSpc>
            </a:pPr>
            <a:r>
              <a:rPr lang="en-US" sz="3016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Token Cropr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Related 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6000" y="6604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009900"/>
            <a:ext cx="5207000" cy="6286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00" y="4089400"/>
            <a:ext cx="3987800" cy="4140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43000" y="9271000"/>
            <a:ext cx="101473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00" b="0" i="1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Bergner, Benjamin, Christoph Lippert, and Aravindh Mahendran. "Token cropr: Faster vits for quite a few tasks." 2025 IEEE/CVF Conference on Computer Vision and Pattern Recognition (CVPR). IEEE, 2025.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8318500"/>
            <a:ext cx="60706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20800" y="3835400"/>
            <a:ext cx="8547100" cy="3403600"/>
          </a:xfrm>
          <a:prstGeom prst="rect">
            <a:avLst/>
          </a:prstGeom>
        </p:spPr>
        <p:txBody>
          <a:bodyPr lIns="0" tIns="13271" rIns="0" bIns="13271" rtlCol="0" anchor="ctr"/>
          <a:lstStyle/>
          <a:p>
            <a:pPr lvl="0" algn="l">
              <a:lnSpc>
                <a:spcPct val="115287"/>
              </a:lnSpc>
            </a:pPr>
            <a:r>
              <a:rPr lang="en-US" sz="18999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5900" y="6718300"/>
            <a:ext cx="9207500" cy="1524000"/>
          </a:xfrm>
          <a:prstGeom prst="rect">
            <a:avLst/>
          </a:prstGeom>
        </p:spPr>
        <p:txBody>
          <a:bodyPr lIns="0" tIns="5892" rIns="0" bIns="5892" rtlCol="0" anchor="ctr"/>
          <a:lstStyle/>
          <a:p>
            <a:pPr lvl="0" algn="l">
              <a:lnSpc>
                <a:spcPct val="115287"/>
              </a:lnSpc>
            </a:pPr>
            <a:r>
              <a:rPr lang="en-US" sz="8435" b="0" i="0" u="none" strike="noStrike" cap="all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Method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5900" y="8559800"/>
            <a:ext cx="8953500" cy="495300"/>
          </a:xfrm>
          <a:prstGeom prst="rect">
            <a:avLst/>
          </a:prstGeom>
        </p:spPr>
        <p:txBody>
          <a:bodyPr lIns="0" tIns="1861" rIns="0" bIns="1861" rtlCol="0" anchor="ctr"/>
          <a:lstStyle/>
          <a:p>
            <a:pPr lvl="0" algn="l">
              <a:lnSpc>
                <a:spcPct val="115287"/>
              </a:lnSpc>
            </a:pPr>
            <a:r>
              <a:rPr lang="en-US" sz="2664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사용할 모델 및 학습 방법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Modeling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000" y="6604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3009900"/>
            <a:ext cx="5092700" cy="614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04300" y="5715000"/>
            <a:ext cx="2209800" cy="1409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4584700"/>
            <a:ext cx="2679700" cy="3225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512300" y="4876800"/>
            <a:ext cx="1193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07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20300" y="8051800"/>
            <a:ext cx="5499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07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Quantized Cropr ViT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65600" y="9131300"/>
            <a:ext cx="40005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907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Base Cropr ViT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Modeling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000" y="6604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035300"/>
            <a:ext cx="5092700" cy="6146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100" y="4686300"/>
            <a:ext cx="3987800" cy="4140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2640000">
            <a:off x="5054600" y="6184900"/>
            <a:ext cx="2552700" cy="6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79999">
            <a:off x="5295900" y="7937500"/>
            <a:ext cx="2133600" cy="63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589000" y="4686300"/>
            <a:ext cx="36195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(Learnable queries)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41100" y="4686300"/>
            <a:ext cx="2057400" cy="584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04600" y="3517900"/>
            <a:ext cx="2057400" cy="457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589000" y="3390900"/>
            <a:ext cx="3771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(M개의 Input tokens)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03000" y="4051300"/>
            <a:ext cx="2324100" cy="660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601700" y="4089400"/>
            <a:ext cx="38735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(Key matrix, Identity)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04600" y="5689600"/>
            <a:ext cx="62357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794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327400" y="8686800"/>
            <a:ext cx="787400" cy="50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Formulation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6000" y="6477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03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3251200"/>
            <a:ext cx="6896100" cy="1181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31300" y="5308600"/>
            <a:ext cx="64389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(pruning module P가 learnable일 때)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1300" y="3556000"/>
            <a:ext cx="72263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(QAT - token pruning joint optimization)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31300" y="6553200"/>
            <a:ext cx="4470400" cy="283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Q: Quantization function</a:t>
            </a:r>
          </a:p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P: pruning module</a:t>
            </a:r>
          </a:p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f: Neural Network</a:t>
            </a:r>
          </a:p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L: loss function</a:t>
            </a:r>
          </a:p>
          <a:p>
            <a:pPr lvl="0" algn="l">
              <a:lnSpc>
                <a:spcPct val="116199"/>
              </a:lnSpc>
            </a:pPr>
            <a:r>
              <a:rPr lang="en-US" sz="315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y: label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5003800"/>
            <a:ext cx="73533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794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Formulation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6000" y="6477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03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1117AD-656D-A99C-F61F-80939DF1B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801" y="4601288"/>
            <a:ext cx="12271098" cy="108442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73901" y="5660311"/>
            <a:ext cx="1803400" cy="6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9001" y="6206411"/>
            <a:ext cx="1397000" cy="673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-5349949">
            <a:off x="6558101" y="5888911"/>
            <a:ext cx="558800" cy="139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50901" y="5622211"/>
            <a:ext cx="1435100" cy="6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-5487618">
            <a:off x="12870001" y="5888911"/>
            <a:ext cx="558800" cy="139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803201" y="6206411"/>
            <a:ext cx="28067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i-th aux head prediction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25201" y="5520611"/>
            <a:ext cx="431800" cy="6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-5400000">
            <a:off x="9910901" y="5800011"/>
            <a:ext cx="673100" cy="13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580701" y="6181011"/>
            <a:ext cx="13970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block index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5900" y="8318500"/>
            <a:ext cx="60706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20800" y="3835400"/>
            <a:ext cx="8547100" cy="3403600"/>
          </a:xfrm>
          <a:prstGeom prst="rect">
            <a:avLst/>
          </a:prstGeom>
        </p:spPr>
        <p:txBody>
          <a:bodyPr lIns="0" tIns="13271" rIns="0" bIns="13271" rtlCol="0" anchor="ctr"/>
          <a:lstStyle/>
          <a:p>
            <a:pPr lvl="0" algn="l">
              <a:lnSpc>
                <a:spcPct val="115287"/>
              </a:lnSpc>
            </a:pPr>
            <a:r>
              <a:rPr lang="en-US" sz="18999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5900" y="6718300"/>
            <a:ext cx="9207500" cy="1524000"/>
          </a:xfrm>
          <a:prstGeom prst="rect">
            <a:avLst/>
          </a:prstGeom>
        </p:spPr>
        <p:txBody>
          <a:bodyPr lIns="0" tIns="5892" rIns="0" bIns="5892" rtlCol="0" anchor="ctr"/>
          <a:lstStyle/>
          <a:p>
            <a:pPr lvl="0" algn="l">
              <a:lnSpc>
                <a:spcPct val="115287"/>
              </a:lnSpc>
            </a:pPr>
            <a:r>
              <a:rPr lang="en-US" sz="8435" b="0" i="0" u="none" strike="noStrike" cap="all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Experiments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5900" y="8559800"/>
            <a:ext cx="8953500" cy="495300"/>
          </a:xfrm>
          <a:prstGeom prst="rect">
            <a:avLst/>
          </a:prstGeom>
        </p:spPr>
        <p:txBody>
          <a:bodyPr lIns="0" tIns="1861" rIns="0" bIns="1861" rtlCol="0" anchor="ctr"/>
          <a:lstStyle/>
          <a:p>
            <a:pPr lvl="0" algn="l">
              <a:lnSpc>
                <a:spcPct val="115287"/>
              </a:lnSpc>
            </a:pPr>
            <a:r>
              <a:rPr lang="en-US" sz="2664" b="0" i="0" u="none" strike="noStrike">
                <a:solidFill>
                  <a:srgbClr val="4D4D4D"/>
                </a:solidFill>
                <a:latin typeface="Pretendard Light"/>
                <a:ea typeface="Pretendard Light"/>
                <a:cs typeface="Pretendard Light"/>
              </a:rPr>
              <a:t>실험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" y="8140700"/>
            <a:ext cx="16319500" cy="116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3340100"/>
            <a:ext cx="16306800" cy="444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327400" y="8686800"/>
            <a:ext cx="787400" cy="50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52500" y="8521700"/>
            <a:ext cx="2806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99" b="0" i="0" u="none" strike="noStrike">
                <a:solidFill>
                  <a:srgbClr val="229BEE"/>
                </a:solidFill>
                <a:latin typeface="Pretendard Medium"/>
                <a:ea typeface="Pretendard Medium"/>
                <a:cs typeface="Pretendard Medium"/>
              </a:rPr>
              <a:t>POINT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7600" y="8521700"/>
            <a:ext cx="136779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269"/>
              </a:lnSpc>
            </a:pPr>
            <a:r>
              <a:rPr lang="en-US" sz="2099" b="0" i="0" u="none" strike="noStrike">
                <a:solidFill>
                  <a:srgbClr val="4D4D4D"/>
                </a:solidFill>
                <a:latin typeface="Pretendard Regular"/>
                <a:ea typeface="Pretendard Regular"/>
                <a:cs typeface="Pretendard Regular"/>
              </a:rPr>
              <a:t>QAT와 token pruning을 동시에 최적화하면 정확도 손실이 감소하는가?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949700"/>
            <a:ext cx="16344900" cy="3225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Base model: timm/vit_tiny_patch16_224.augreg_in21k_ft_in1k</a:t>
            </a:r>
          </a:p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Token pruner: Cropr</a:t>
            </a:r>
          </a:p>
          <a:p>
            <a:pPr lvl="0" algn="l">
              <a:lnSpc>
                <a:spcPct val="116199"/>
              </a:lnSpc>
            </a:pPr>
            <a:endParaRPr lang="en-US" sz="2000" b="0" i="0" u="none" strike="noStrike">
              <a:solidFill>
                <a:srgbClr val="4D4D4D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Dataset: Food-101 - class 101개, 전체 샘플 75,750개. (https://data.vision.ee.ethz.ch/cvl/datasets_extra/food-101/)</a:t>
            </a:r>
          </a:p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입력: 224x224</a:t>
            </a:r>
          </a:p>
          <a:p>
            <a:pPr lvl="0" algn="l">
              <a:lnSpc>
                <a:spcPct val="116199"/>
              </a:lnSpc>
            </a:pPr>
            <a:endParaRPr lang="en-US" sz="2000" b="0" i="0" u="none" strike="noStrike">
              <a:solidFill>
                <a:srgbClr val="4D4D4D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Metrics: top-1 acc, GFLOPs, Params, Storage cost, Token pruning ratio, Latency</a:t>
            </a:r>
          </a:p>
          <a:p>
            <a:pPr lvl="0" algn="l">
              <a:lnSpc>
                <a:spcPct val="116199"/>
              </a:lnSpc>
            </a:pPr>
            <a:endParaRPr lang="en-US" sz="2000" b="0" i="0" u="none" strike="noStrike">
              <a:solidFill>
                <a:srgbClr val="4D4D4D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GPU: NVIDIA RTX 4090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3000" y="1117600"/>
            <a:ext cx="13462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실험 설정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000" y="6477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327400" y="8686800"/>
            <a:ext cx="787400" cy="50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65300" y="1155700"/>
            <a:ext cx="150114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Pruning Strategy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6000" y="6477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04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511300" y="2921000"/>
          <a:ext cx="15234834" cy="6350216"/>
        </p:xfrm>
        <a:graphic>
          <a:graphicData uri="http://schemas.openxmlformats.org/drawingml/2006/table">
            <a:tbl>
              <a:tblPr/>
              <a:tblGrid>
                <a:gridCol w="2539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87554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요약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 방법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 시 pruning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추론 시 정밀도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추론 시 pruning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비고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54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 only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없음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W4A8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없음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 정확도 기준선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54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 -&gt; pruning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없음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W4A8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[CLS] attn top-k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 효과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54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 with QAT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[CLS] attn top-k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W4A8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[CLS] attn top-k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 적응 효과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9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400" y="266700"/>
            <a:ext cx="17741900" cy="974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" y="2628900"/>
            <a:ext cx="163068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1600" y="-12700"/>
            <a:ext cx="6858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327400" y="8686800"/>
            <a:ext cx="787400" cy="50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17500" y="1155700"/>
            <a:ext cx="17653000" cy="1435100"/>
          </a:xfrm>
          <a:prstGeom prst="rect">
            <a:avLst/>
          </a:prstGeom>
        </p:spPr>
        <p:txBody>
          <a:bodyPr lIns="0" tIns="105973" rIns="0" bIns="105973" rtlCol="0" anchor="ctr"/>
          <a:lstStyle/>
          <a:p>
            <a:pPr lvl="0" algn="ctr">
              <a:lnSpc>
                <a:spcPct val="98770"/>
              </a:lnSpc>
            </a:pPr>
            <a:r>
              <a:rPr lang="en-US" sz="7947" b="0" i="0" u="none" strike="noStrike">
                <a:solidFill>
                  <a:srgbClr val="4D4D4D"/>
                </a:solidFill>
                <a:latin typeface="Pretendard Medium"/>
                <a:ea typeface="Pretendard Medium"/>
                <a:cs typeface="Pretendard Medium"/>
              </a:rPr>
              <a:t>Pruning Strategy Comparison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66000" y="647700"/>
            <a:ext cx="3556000" cy="482600"/>
          </a:xfrm>
          <a:prstGeom prst="rect">
            <a:avLst/>
          </a:prstGeom>
        </p:spPr>
        <p:txBody>
          <a:bodyPr lIns="0" tIns="33670" rIns="0" bIns="33670" rtlCol="0" anchor="ctr"/>
          <a:lstStyle/>
          <a:p>
            <a:pPr lvl="0" algn="ctr">
              <a:lnSpc>
                <a:spcPct val="98770"/>
              </a:lnSpc>
            </a:pPr>
            <a:r>
              <a:rPr lang="en-US" sz="2524" b="0" i="0" u="none" strike="noStrike">
                <a:solidFill>
                  <a:srgbClr val="229BEE"/>
                </a:solidFill>
                <a:latin typeface="Pretendard Regular"/>
                <a:ea typeface="Pretendard Regular"/>
                <a:cs typeface="Pretendard Regular"/>
              </a:rPr>
              <a:t>CHAPTER 04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511300" y="3556000"/>
          <a:ext cx="15234834" cy="4937016"/>
        </p:xfrm>
        <a:graphic>
          <a:graphicData uri="http://schemas.openxmlformats.org/drawingml/2006/table">
            <a:tbl>
              <a:tblPr/>
              <a:tblGrid>
                <a:gridCol w="2539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9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672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요약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 방법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 시 pruning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추론 시 정밀도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추론 시 pruning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비고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672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 → PTQ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FP32 finetuning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Cropr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W4A8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Cropr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 -&gt; quant 성능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672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 with QAT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QAT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Cropr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W4A8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Cropr</a:t>
                      </a:r>
                      <a:endParaRPr lang="en-US" sz="1100"/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pruning/quant </a:t>
                      </a:r>
                      <a:endParaRPr lang="en-US" sz="1100"/>
                    </a:p>
                    <a:p>
                      <a:pPr lvl="0" algn="l">
                        <a:lnSpc>
                          <a:spcPct val="116199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공동 최적화 성능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597</Words>
  <Application>Microsoft Office PowerPoint</Application>
  <PresentationFormat>사용자 지정</PresentationFormat>
  <Paragraphs>145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Calibri</vt:lpstr>
      <vt:lpstr>Pretendard Light</vt:lpstr>
      <vt:lpstr>Arial</vt:lpstr>
      <vt:lpstr>Pretendard Regular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이수현</cp:lastModifiedBy>
  <cp:revision>5</cp:revision>
  <dcterms:created xsi:type="dcterms:W3CDTF">2006-08-16T00:00:00Z</dcterms:created>
  <dcterms:modified xsi:type="dcterms:W3CDTF">2026-09-29T18:28:54Z</dcterms:modified>
</cp:coreProperties>
</file>